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v>Actual Work</c:v>
          </c:tx>
          <c:spPr>
            <a:solidFill>
              <a:schemeClr val="accent1">
                <a:tint val="100000"/>
              </a:schemeClr>
            </a:solidFill>
            <a:ln>
              <a:noFill/>
            </a:ln>
            <a:effectLst/>
          </c:spPr>
          <c:invertIfNegative val="0"/>
          <c:cat>
            <c:strLit>
              <c:ptCount val="6"/>
              <c:pt idx="0">
                <c:v>PM</c:v>
              </c:pt>
              <c:pt idx="1">
                <c:v>Analyst</c:v>
              </c:pt>
              <c:pt idx="2">
                <c:v>Frontend Developer</c:v>
              </c:pt>
              <c:pt idx="3">
                <c:v>Backend Developer</c:v>
              </c:pt>
              <c:pt idx="4">
                <c:v>Tester</c:v>
              </c:pt>
              <c:pt idx="5">
                <c:v>UI/UX Designer</c:v>
              </c:pt>
            </c:strLit>
          </c:cat>
          <c:val>
            <c:numLit>
              <c:formatCode>#,##0_ "hrs"</c:formatCode>
              <c:ptCount val="6"/>
              <c:pt idx="0">
                <c:v>24</c:v>
              </c:pt>
              <c:pt idx="1">
                <c:v>144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72</c:v>
              </c:pt>
            </c:numLit>
          </c:val>
          <c:extLst>
            <c:ext xmlns:c16="http://schemas.microsoft.com/office/drawing/2014/chart" uri="{C3380CC4-5D6E-409C-BE32-E72D297353CC}">
              <c16:uniqueId val="{00000000-0A78-4EBB-9A1D-B8542527E3F0}"/>
            </c:ext>
          </c:extLst>
        </c:ser>
        <c:ser>
          <c:idx val="1"/>
          <c:order val="1"/>
          <c:tx>
            <c:v>Remaining Work</c:v>
          </c:tx>
          <c:spPr>
            <a:solidFill>
              <a:schemeClr val="accent2">
                <a:tint val="100000"/>
              </a:schemeClr>
            </a:solidFill>
            <a:ln>
              <a:noFill/>
            </a:ln>
            <a:effectLst/>
          </c:spPr>
          <c:invertIfNegative val="0"/>
          <c:cat>
            <c:strLit>
              <c:ptCount val="6"/>
              <c:pt idx="0">
                <c:v>PM</c:v>
              </c:pt>
              <c:pt idx="1">
                <c:v>Analyst</c:v>
              </c:pt>
              <c:pt idx="2">
                <c:v>Frontend Developer</c:v>
              </c:pt>
              <c:pt idx="3">
                <c:v>Backend Developer</c:v>
              </c:pt>
              <c:pt idx="4">
                <c:v>Tester</c:v>
              </c:pt>
              <c:pt idx="5">
                <c:v>UI/UX Designer</c:v>
              </c:pt>
            </c:strLit>
          </c:cat>
          <c:val>
            <c:numLit>
              <c:formatCode>#,##0_ "hrs"</c:formatCode>
              <c:ptCount val="6"/>
              <c:pt idx="0">
                <c:v>48</c:v>
              </c:pt>
              <c:pt idx="1">
                <c:v>0</c:v>
              </c:pt>
              <c:pt idx="2">
                <c:v>104</c:v>
              </c:pt>
              <c:pt idx="3">
                <c:v>128</c:v>
              </c:pt>
              <c:pt idx="4">
                <c:v>72</c:v>
              </c:pt>
              <c:pt idx="5">
                <c:v>72</c:v>
              </c:pt>
            </c:numLit>
          </c:val>
          <c:extLst>
            <c:ext xmlns:c16="http://schemas.microsoft.com/office/drawing/2014/chart" uri="{C3380CC4-5D6E-409C-BE32-E72D297353CC}">
              <c16:uniqueId val="{00000001-0A78-4EBB-9A1D-B8542527E3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overlap val="100"/>
        <c:axId val="267070720"/>
        <c:axId val="266918560"/>
      </c:barChart>
      <c:catAx>
        <c:axId val="2670707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6918560"/>
        <c:crosses val="autoZero"/>
        <c:auto val="1"/>
        <c:lblAlgn val="ctr"/>
        <c:lblOffset val="100"/>
        <c:noMultiLvlLbl val="0"/>
      </c:catAx>
      <c:valAx>
        <c:axId val="266918560"/>
        <c:scaling>
          <c:orientation val="minMax"/>
        </c:scaling>
        <c:delete val="0"/>
        <c:axPos val="b"/>
        <c:numFmt formatCode="#,##0_ &quot;hrs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7070720"/>
        <c:crosses val="autoZero"/>
        <c:crossBetween val="between"/>
      </c:valAx>
      <c:spPr>
        <a:noFill/>
        <a:ln>
          <a:noFill/>
        </a:ln>
        <a:effectLst/>
      </c:spPr>
      <c:extLst/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v>Actual Work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Lit>
              <c:ptCount val="6"/>
              <c:pt idx="0">
                <c:v>PM</c:v>
              </c:pt>
              <c:pt idx="1">
                <c:v>Analyst</c:v>
              </c:pt>
              <c:pt idx="2">
                <c:v>Frontend Developer</c:v>
              </c:pt>
              <c:pt idx="3">
                <c:v>Backend Developer</c:v>
              </c:pt>
              <c:pt idx="4">
                <c:v>Tester</c:v>
              </c:pt>
              <c:pt idx="5">
                <c:v>UI/UX Designer</c:v>
              </c:pt>
            </c:strLit>
          </c:cat>
          <c:val>
            <c:numLit>
              <c:formatCode>#,##0_ "hrs"</c:formatCode>
              <c:ptCount val="6"/>
              <c:pt idx="0">
                <c:v>24</c:v>
              </c:pt>
              <c:pt idx="1">
                <c:v>144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72</c:v>
              </c:pt>
            </c:numLit>
          </c:val>
          <c:extLst>
            <c:ext xmlns:c16="http://schemas.microsoft.com/office/drawing/2014/chart" uri="{C3380CC4-5D6E-409C-BE32-E72D297353CC}">
              <c16:uniqueId val="{00000000-9CCA-4837-96AE-49F1F5815AE9}"/>
            </c:ext>
          </c:extLst>
        </c:ser>
        <c:ser>
          <c:idx val="1"/>
          <c:order val="1"/>
          <c:tx>
            <c:v>Remaining Work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Lit>
              <c:ptCount val="6"/>
              <c:pt idx="0">
                <c:v>PM</c:v>
              </c:pt>
              <c:pt idx="1">
                <c:v>Analyst</c:v>
              </c:pt>
              <c:pt idx="2">
                <c:v>Frontend Developer</c:v>
              </c:pt>
              <c:pt idx="3">
                <c:v>Backend Developer</c:v>
              </c:pt>
              <c:pt idx="4">
                <c:v>Tester</c:v>
              </c:pt>
              <c:pt idx="5">
                <c:v>UI/UX Designer</c:v>
              </c:pt>
            </c:strLit>
          </c:cat>
          <c:val>
            <c:numLit>
              <c:formatCode>#,##0_ "hrs"</c:formatCode>
              <c:ptCount val="6"/>
              <c:pt idx="0">
                <c:v>48</c:v>
              </c:pt>
              <c:pt idx="1">
                <c:v>0</c:v>
              </c:pt>
              <c:pt idx="2">
                <c:v>104</c:v>
              </c:pt>
              <c:pt idx="3">
                <c:v>128</c:v>
              </c:pt>
              <c:pt idx="4">
                <c:v>72</c:v>
              </c:pt>
              <c:pt idx="5">
                <c:v>72</c:v>
              </c:pt>
            </c:numLit>
          </c:val>
          <c:extLst>
            <c:ext xmlns:c16="http://schemas.microsoft.com/office/drawing/2014/chart" uri="{C3380CC4-5D6E-409C-BE32-E72D297353CC}">
              <c16:uniqueId val="{00000001-9CCA-4837-96AE-49F1F5815A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303959424"/>
        <c:axId val="300950080"/>
      </c:barChart>
      <c:lineChart>
        <c:grouping val="standard"/>
        <c:varyColors val="0"/>
        <c:ser>
          <c:idx val="2"/>
          <c:order val="2"/>
          <c:tx>
            <c:v>Baseline Work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Lit>
              <c:ptCount val="6"/>
              <c:pt idx="0">
                <c:v>PM</c:v>
              </c:pt>
              <c:pt idx="1">
                <c:v>Analyst</c:v>
              </c:pt>
              <c:pt idx="2">
                <c:v>Frontend Developer</c:v>
              </c:pt>
              <c:pt idx="3">
                <c:v>Backend Developer</c:v>
              </c:pt>
              <c:pt idx="4">
                <c:v>Tester</c:v>
              </c:pt>
              <c:pt idx="5">
                <c:v>UI/UX Designer</c:v>
              </c:pt>
            </c:strLit>
          </c:cat>
          <c:val>
            <c:numLit>
              <c:formatCode>#,##0_ "hrs"</c:formatCode>
              <c:ptCount val="6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9CCA-4837-96AE-49F1F5815A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03959424"/>
        <c:axId val="300950080"/>
      </c:lineChart>
      <c:catAx>
        <c:axId val="303959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0950080"/>
        <c:crosses val="autoZero"/>
        <c:auto val="1"/>
        <c:lblAlgn val="ctr"/>
        <c:lblOffset val="100"/>
        <c:noMultiLvlLbl val="0"/>
      </c:catAx>
      <c:valAx>
        <c:axId val="300950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&quot;hrs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3959424"/>
        <c:crosses val="autoZero"/>
        <c:crossBetween val="between"/>
      </c:valAx>
      <c:spPr>
        <a:noFill/>
        <a:ln>
          <a:noFill/>
        </a:ln>
        <a:effectLst/>
      </c:spPr>
      <c:extLst/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% Work Complete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Lit>
              <c:ptCount val="6"/>
              <c:pt idx="0">
                <c:v>PM</c:v>
              </c:pt>
              <c:pt idx="1">
                <c:v>Analyst</c:v>
              </c:pt>
              <c:pt idx="2">
                <c:v>Frontend Developer</c:v>
              </c:pt>
              <c:pt idx="3">
                <c:v>Backend Developer</c:v>
              </c:pt>
              <c:pt idx="4">
                <c:v>Tester</c:v>
              </c:pt>
              <c:pt idx="5">
                <c:v>UI/UX Designer</c:v>
              </c:pt>
            </c:strLit>
          </c:cat>
          <c:val>
            <c:numLit>
              <c:formatCode>#,##0"%"</c:formatCode>
              <c:ptCount val="6"/>
              <c:pt idx="0">
                <c:v>33</c:v>
              </c:pt>
              <c:pt idx="1">
                <c:v>100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50</c:v>
              </c:pt>
            </c:numLit>
          </c:val>
          <c:extLst>
            <c:ext xmlns:c16="http://schemas.microsoft.com/office/drawing/2014/chart" uri="{C3380CC4-5D6E-409C-BE32-E72D297353CC}">
              <c16:uniqueId val="{00000000-68CB-4A4F-9A09-5750D77762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03958704"/>
        <c:axId val="296430288"/>
      </c:barChart>
      <c:catAx>
        <c:axId val="303958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6430288"/>
        <c:crosses val="autoZero"/>
        <c:auto val="1"/>
        <c:lblAlgn val="ctr"/>
        <c:lblOffset val="100"/>
        <c:noMultiLvlLbl val="0"/>
      </c:catAx>
      <c:valAx>
        <c:axId val="2964302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&quot;%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3958704"/>
        <c:crosses val="autoZero"/>
        <c:crossBetween val="between"/>
      </c:valAx>
      <c:spPr>
        <a:noFill/>
        <a:ln>
          <a:noFill/>
        </a:ln>
        <a:effectLst/>
      </c:spPr>
      <c:extLst/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667733873812472"/>
          <c:y val="0.10326311441553077"/>
          <c:w val="0.78852134513937466"/>
          <c:h val="0.65885281997742851"/>
        </c:manualLayout>
      </c:layout>
      <c:barChart>
        <c:barDir val="col"/>
        <c:grouping val="stacked"/>
        <c:varyColors val="0"/>
        <c:ser>
          <c:idx val="0"/>
          <c:order val="0"/>
          <c:tx>
            <c:v>Actual Cost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Lit>
              <c:ptCount val="6"/>
              <c:pt idx="0">
                <c:v>PM</c:v>
              </c:pt>
              <c:pt idx="1">
                <c:v>Analyst</c:v>
              </c:pt>
              <c:pt idx="2">
                <c:v>Frontend Developer</c:v>
              </c:pt>
              <c:pt idx="3">
                <c:v>Backend Developer</c:v>
              </c:pt>
              <c:pt idx="4">
                <c:v>Tester</c:v>
              </c:pt>
              <c:pt idx="5">
                <c:v>UI/UX Designer</c:v>
              </c:pt>
            </c:strLit>
          </c:cat>
          <c:val>
            <c:numLit>
              <c:formatCode>\$#,##0.00</c:formatCode>
              <c:ptCount val="6"/>
              <c:pt idx="0">
                <c:v>14400.000000000002</c:v>
              </c:pt>
              <c:pt idx="1">
                <c:v>57600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26640</c:v>
              </c:pt>
            </c:numLit>
          </c:val>
          <c:extLst>
            <c:ext xmlns:c16="http://schemas.microsoft.com/office/drawing/2014/chart" uri="{C3380CC4-5D6E-409C-BE32-E72D297353CC}">
              <c16:uniqueId val="{00000000-5462-43DD-B3B7-68F443DA99FA}"/>
            </c:ext>
          </c:extLst>
        </c:ser>
        <c:ser>
          <c:idx val="1"/>
          <c:order val="1"/>
          <c:tx>
            <c:v>Remaining Cost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Lit>
              <c:ptCount val="6"/>
              <c:pt idx="0">
                <c:v>PM</c:v>
              </c:pt>
              <c:pt idx="1">
                <c:v>Analyst</c:v>
              </c:pt>
              <c:pt idx="2">
                <c:v>Frontend Developer</c:v>
              </c:pt>
              <c:pt idx="3">
                <c:v>Backend Developer</c:v>
              </c:pt>
              <c:pt idx="4">
                <c:v>Tester</c:v>
              </c:pt>
              <c:pt idx="5">
                <c:v>UI/UX Designer</c:v>
              </c:pt>
            </c:strLit>
          </c:cat>
          <c:val>
            <c:numLit>
              <c:formatCode>\$#,##0.00</c:formatCode>
              <c:ptCount val="6"/>
              <c:pt idx="0">
                <c:v>28800</c:v>
              </c:pt>
              <c:pt idx="1">
                <c:v>0</c:v>
              </c:pt>
              <c:pt idx="2">
                <c:v>39520</c:v>
              </c:pt>
              <c:pt idx="3">
                <c:v>53760</c:v>
              </c:pt>
              <c:pt idx="4">
                <c:v>14400</c:v>
              </c:pt>
              <c:pt idx="5">
                <c:v>26640</c:v>
              </c:pt>
            </c:numLit>
          </c:val>
          <c:extLst>
            <c:ext xmlns:c16="http://schemas.microsoft.com/office/drawing/2014/chart" uri="{C3380CC4-5D6E-409C-BE32-E72D297353CC}">
              <c16:uniqueId val="{00000001-5462-43DD-B3B7-68F443DA99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9"/>
        <c:overlap val="100"/>
        <c:axId val="324971680"/>
        <c:axId val="320308992"/>
      </c:barChart>
      <c:lineChart>
        <c:grouping val="standard"/>
        <c:varyColors val="0"/>
        <c:ser>
          <c:idx val="2"/>
          <c:order val="2"/>
          <c:tx>
            <c:v>Baseline Cost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Lit>
              <c:ptCount val="6"/>
              <c:pt idx="0">
                <c:v>PM</c:v>
              </c:pt>
              <c:pt idx="1">
                <c:v>Analyst</c:v>
              </c:pt>
              <c:pt idx="2">
                <c:v>Frontend Developer</c:v>
              </c:pt>
              <c:pt idx="3">
                <c:v>Backend Developer</c:v>
              </c:pt>
              <c:pt idx="4">
                <c:v>Tester</c:v>
              </c:pt>
              <c:pt idx="5">
                <c:v>UI/UX Designer</c:v>
              </c:pt>
            </c:strLit>
          </c:cat>
          <c:val>
            <c:numLit>
              <c:formatCode>\$#,##0.00</c:formatCode>
              <c:ptCount val="6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5462-43DD-B3B7-68F443DA99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24971680"/>
        <c:axId val="320308992"/>
      </c:lineChart>
      <c:catAx>
        <c:axId val="324971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0308992"/>
        <c:crosses val="autoZero"/>
        <c:auto val="1"/>
        <c:lblAlgn val="ctr"/>
        <c:lblOffset val="100"/>
        <c:noMultiLvlLbl val="0"/>
      </c:catAx>
      <c:valAx>
        <c:axId val="320308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\$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4971680"/>
        <c:crosses val="autoZero"/>
        <c:crossBetween val="between"/>
      </c:valAx>
      <c:spPr>
        <a:noFill/>
        <a:ln>
          <a:noFill/>
        </a:ln>
        <a:effectLst/>
      </c:spPr>
      <c:extLst/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>
  <a:schemeClr val="accent1"/>
  <a:schemeClr val="accent2"/>
  <a:schemeClr val="accent3"/>
  <a:schemeClr val="accent4"/>
  <a:schemeClr val="accent5"/>
  <a:schemeClr val="accent6"/>
  <cs:variation>
    <a:tint val="100000"/>
  </cs:variation>
  <cs:variation>
    <a:tint val="60000"/>
  </cs:variation>
  <cs:variation>
    <a:shade val="60000"/>
  </cs:variation>
  <cs:variation>
    <a:tint val="80000"/>
  </cs:variation>
  <cs:variation>
    <a:shade val="80000"/>
  </cs:variation>
  <cs:variation>
    <a:tint val="50000"/>
  </cs:variation>
  <cs:variation>
    <a:shade val="50000"/>
  </cs:variation>
  <cs:variation>
    <a:tint val="70000"/>
  </cs:variation>
  <cs:variation>
    <a:shade val="7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tint val="60000"/>
  </cs:variation>
  <cs:variation>
    <a:shade val="60000"/>
  </cs:variation>
  <cs:variation>
    <a:tint val="80000"/>
  </cs:variation>
  <cs:variation>
    <a:shade val="80000"/>
  </cs:variation>
  <cs:variation>
    <a:tint val="50000"/>
  </cs:variation>
  <cs:variation>
    <a:shade val="50000"/>
  </cs:variation>
  <cs:variation>
    <a:tint val="70000"/>
  </cs:variation>
  <cs:variation>
    <a:shade val="7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tint val="60000"/>
  </cs:variation>
  <cs:variation>
    <a:shade val="60000"/>
  </cs:variation>
  <cs:variation>
    <a:tint val="80000"/>
  </cs:variation>
  <cs:variation>
    <a:shade val="80000"/>
  </cs:variation>
  <cs:variation>
    <a:tint val="50000"/>
  </cs:variation>
  <cs:variation>
    <a:shade val="50000"/>
  </cs:variation>
  <cs:variation>
    <a:tint val="70000"/>
  </cs:variation>
  <cs:variation>
    <a:shade val="7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</cs:spPr>
  </cs:plotArea>
  <cs:plotArea3D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</cs:spPr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40" b="0" kern="16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900"/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40" b="0" kern="16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900"/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40" b="0" kern="16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94E12-7B69-300B-B17D-36B19A16E5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5055B4-3386-51B7-740F-499DE8BCB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22403-9E07-7E97-D6E8-8802ECA6C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74B11-C278-4F31-831A-179E2A72CB5C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968FD-8BFA-96A4-9DA7-52368D696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17091-3EF3-FF33-EF3F-EB5F51FC2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2FE5E-5AEE-4946-83F1-2002E4348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0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1AB7E-0AF7-0D32-BDC3-C5F07546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248A5-9A7A-AAAD-6436-F83382864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71265-DE60-60F3-15AC-A808AB713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74B11-C278-4F31-831A-179E2A72CB5C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C0DBF-3362-3075-18F8-C82BAE90D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CEFAD-B887-6A34-717C-BF43FCE6E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2FE5E-5AEE-4946-83F1-2002E4348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8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25CD-2F13-4E8F-463D-29D516A83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5CD2B5-CFD9-F302-95BD-29BA80DCF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81900-5617-1746-A5C9-149BB02F3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74B11-C278-4F31-831A-179E2A72CB5C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D703C-7158-073B-8D51-54D203A90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1476F-AFE6-FA41-DEF4-CE62A5755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2FE5E-5AEE-4946-83F1-2002E4348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27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F5B4A-A1DF-1528-1096-63899C2A5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8328A-4E0E-0F08-824F-B5AE339F41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452CF9-20E2-9BB3-B5AD-EF3B76E0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3D4D83-B2CF-2418-6C40-B838567F2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74B11-C278-4F31-831A-179E2A72CB5C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BBF2E-4E9A-6C18-F7E9-E7BD85125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CF47B-8185-5DB3-5630-653D4ADB9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2FE5E-5AEE-4946-83F1-2002E4348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95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A3333-154B-0CA1-A425-69DB8CF20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038BF6-1C80-CBF2-CC74-F2FA39D02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DE2FA-27F6-2FFD-DFA4-002839EE7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AA7263-1403-7EA4-9EF8-A501DA8C51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64B65F-A377-CF94-9BE9-C5B1A866D4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793B28-26E8-2FAF-EFD7-2BC294CD6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74B11-C278-4F31-831A-179E2A72CB5C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2E768F-D832-B5C0-4976-BCA439DE4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36ED8A-086C-1C2A-3866-D6868DDA2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2FE5E-5AEE-4946-83F1-2002E4348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178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69288-B08A-7F64-8983-196035BEE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0C5F66-5C28-C0E7-AD7E-1B0B94435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74B11-C278-4F31-831A-179E2A72CB5C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FD7E3-7AB7-37DE-B33B-E4C7527EE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CDE7C9-60B0-2303-8E8B-827724232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2FE5E-5AEE-4946-83F1-2002E4348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570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3FF9C3-827E-E9C8-C61F-B5C3ADC4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74B11-C278-4F31-831A-179E2A72CB5C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6BED2F-ABC4-7750-D6FE-D31DA5439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7C93D-5E60-2791-D5ED-A677B5F4F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2FE5E-5AEE-4946-83F1-2002E4348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791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A1595-6D80-63BD-BDD4-983F0FD7D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EC1F3-72B6-EE01-4CE0-21D848DF5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D7F613-6262-19DC-FCA5-3C70956BF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FD4F00-337B-AC4D-CF0C-7294809CE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74B11-C278-4F31-831A-179E2A72CB5C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37041-0815-11A4-20D5-F346E031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B11720-094F-84CD-F660-9B3F1DD1A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2FE5E-5AEE-4946-83F1-2002E4348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727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52471-1FF1-C4B7-2AD8-0D240B0C8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B0414E-3DA2-8520-B4D2-33E4B2E22F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D69DE0-21A2-AC85-F713-D4C030522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5711DD-5310-9A91-E2A5-7ED34EA5B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74B11-C278-4F31-831A-179E2A72CB5C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CAC523-988F-FFCA-E8BE-E30DBA9B8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F22960-EDEF-1081-51F6-4BF12408E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2FE5E-5AEE-4946-83F1-2002E4348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161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23F3-80E2-3E18-48FA-6FC261B05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777585-275D-4632-94A4-8767BE4D4C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BD091-1D1F-342D-84F5-E91266A43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74B11-C278-4F31-831A-179E2A72CB5C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5A0F6-F4FB-05B5-ECE7-A5C705957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D6D61-CDD6-AB71-0813-A6541D1B8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2FE5E-5AEE-4946-83F1-2002E4348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711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75F0EF-2C68-6BEF-07A0-D04EA4D979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7FA31F-79D1-785C-0731-EE68F825B2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7607E-3F3E-2096-C78E-4E55EA1D6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74B11-C278-4F31-831A-179E2A72CB5C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565ED-6148-5474-722B-58293F61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D4BA0-9FF3-A6A2-0935-B3DA2FEF7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2FE5E-5AEE-4946-83F1-2002E4348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488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01EABA-6A9A-42AC-F39C-6F5D8363C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8CDDBC-51DA-7372-79DC-B2C5B6145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DBAE0-73DA-ADCB-420E-35FE60B662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174B11-C278-4F31-831A-179E2A72CB5C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381A6-07DD-674E-F3BA-3FF0E8D0ED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CA990-E965-E69B-306D-CD2014BA0A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22FE5E-5AEE-4946-83F1-2002E4348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628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8810B-6103-5493-C7F0-AE7131D2B3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 anchorCtr="0">
            <a:normAutofit fontScale="90000"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handmade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</a:p>
        </p:txBody>
      </p:sp>
    </p:spTree>
    <p:extLst>
      <p:ext uri="{BB962C8B-B14F-4D97-AF65-F5344CB8AC3E}">
        <p14:creationId xmlns:p14="http://schemas.microsoft.com/office/powerpoint/2010/main" val="2634545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FFC427-2656-528D-4B49-84444E249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39481" cy="3115110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C751955-204F-18CD-3090-DE61D05E40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0584352"/>
              </p:ext>
            </p:extLst>
          </p:nvPr>
        </p:nvGraphicFramePr>
        <p:xfrm>
          <a:off x="4216908" y="812673"/>
          <a:ext cx="7688580" cy="5232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44022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36EBB8-FD0D-9443-71C5-A79CEC304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172" y="25454"/>
            <a:ext cx="8677656" cy="680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039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2">
            <a:extLst>
              <a:ext uri="{FF2B5EF4-FFF2-40B4-BE49-F238E27FC236}">
                <a16:creationId xmlns:a16="http://schemas.microsoft.com/office/drawing/2014/main" id="{3AEACAC4-8A40-0B73-8081-93256872E5B1}"/>
              </a:ext>
            </a:extLst>
          </p:cNvPr>
          <p:cNvSpPr txBox="1"/>
          <p:nvPr/>
        </p:nvSpPr>
        <p:spPr>
          <a:xfrm>
            <a:off x="271272" y="100584"/>
            <a:ext cx="9509760" cy="457200"/>
          </a:xfrm>
          <a:prstGeom prst="rect">
            <a:avLst/>
          </a:prstGeom>
          <a:solidFill>
            <a:schemeClr val="lt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ctr"/>
          <a:lstStyle>
            <a:lvl1pPr marL="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600" b="1" cap="all" baseline="0">
                <a:solidFill>
                  <a:schemeClr val="bg1">
                    <a:lumMod val="50000"/>
                  </a:schemeClr>
                </a:solidFill>
              </a:rPr>
              <a:t>Resource Overview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E8D2BF4A-D201-D486-AEB2-415E590C25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7843993"/>
              </p:ext>
            </p:extLst>
          </p:nvPr>
        </p:nvGraphicFramePr>
        <p:xfrm>
          <a:off x="271272" y="116128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Box 9">
            <a:extLst>
              <a:ext uri="{FF2B5EF4-FFF2-40B4-BE49-F238E27FC236}">
                <a16:creationId xmlns:a16="http://schemas.microsoft.com/office/drawing/2014/main" id="{1E4A4EFF-A516-96ED-9516-4773C1D492A7}"/>
              </a:ext>
            </a:extLst>
          </p:cNvPr>
          <p:cNvSpPr txBox="1"/>
          <p:nvPr/>
        </p:nvSpPr>
        <p:spPr>
          <a:xfrm>
            <a:off x="271272" y="768096"/>
            <a:ext cx="4505325" cy="182880"/>
          </a:xfrm>
          <a:prstGeom prst="rect">
            <a:avLst/>
          </a:prstGeom>
          <a:solidFill>
            <a:schemeClr val="lt1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0" i="0" u="none" strike="noStrike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Resource Stats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0510C985-D0AB-C109-84B5-45A5EB3CE4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4286083"/>
              </p:ext>
            </p:extLst>
          </p:nvPr>
        </p:nvGraphicFramePr>
        <p:xfrm>
          <a:off x="6096000" y="118872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Box 18">
            <a:extLst>
              <a:ext uri="{FF2B5EF4-FFF2-40B4-BE49-F238E27FC236}">
                <a16:creationId xmlns:a16="http://schemas.microsoft.com/office/drawing/2014/main" id="{A2B38FCC-F97C-1C18-8C5C-F5C4F491DD2B}"/>
              </a:ext>
            </a:extLst>
          </p:cNvPr>
          <p:cNvSpPr txBox="1"/>
          <p:nvPr/>
        </p:nvSpPr>
        <p:spPr>
          <a:xfrm>
            <a:off x="6096000" y="736092"/>
            <a:ext cx="4572000" cy="27432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0" i="0" u="none" strike="noStrike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Work Status</a:t>
            </a: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DAA89FCC-344F-9EFC-2B9B-BA34FA48E459}"/>
              </a:ext>
            </a:extLst>
          </p:cNvPr>
          <p:cNvSpPr txBox="1"/>
          <p:nvPr/>
        </p:nvSpPr>
        <p:spPr>
          <a:xfrm>
            <a:off x="271272" y="4507992"/>
            <a:ext cx="5669280" cy="27432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0" i="0" u="none" strike="noStrike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Resource Status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0957B845-C2AB-B6C0-2EBC-5DF26B9025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992534"/>
              </p:ext>
            </p:extLst>
          </p:nvPr>
        </p:nvGraphicFramePr>
        <p:xfrm>
          <a:off x="485775" y="4901184"/>
          <a:ext cx="5610225" cy="17068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  <a:extLst>
                  <a:ext uri="{22025989-CF43-496F-970E-345718F48C19}">
                    <pj15:dataQuery xmlns:pj15="http://schemas.microsoft.com/projectml/2012/main" type="pjResources" grouping="No Group" filter="Resources - Work" outlineLvl="-1" showHierarchy="0" summaryResourceAssignment="1">
                      <pj15:fieldItemLst>
                        <pj15:fieldItem field="205520897" customName=""/>
                        <pj15:fieldItem field="205521161" customName=""/>
                        <pj15:fieldItem field="205521158" customName=""/>
                        <pj15:fieldItem field="205520918" customName=""/>
                      </pj15:fieldItemLst>
                      <pj15:sortItemLst/>
                      <pj15:filterArgumentItemLst/>
                    </pj15:dataQuery>
                  </a:ext>
                </a:extLst>
              </a:tblPr>
              <a:tblGrid>
                <a:gridCol w="2114550">
                  <a:extLst>
                    <a:ext uri="{9D8B030D-6E8A-4147-A177-3AD203B41FA5}">
                      <a16:colId xmlns:a16="http://schemas.microsoft.com/office/drawing/2014/main" val="3744151733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4140255169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875044538"/>
                    </a:ext>
                  </a:extLst>
                </a:gridCol>
                <a:gridCol w="1362075">
                  <a:extLst>
                    <a:ext uri="{9D8B030D-6E8A-4147-A177-3AD203B41FA5}">
                      <a16:colId xmlns:a16="http://schemas.microsoft.com/office/drawing/2014/main" val="3055647168"/>
                    </a:ext>
                  </a:extLst>
                </a:gridCol>
              </a:tblGrid>
              <a:tr h="157163">
                <a:tc>
                  <a:txBody>
                    <a:bodyPr/>
                    <a:lstStyle/>
                    <a:p>
                      <a:r>
                        <a:rPr lang="en-US" sz="100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Finish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Remaining 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623737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r>
                        <a:rPr lang="en-US" sz="1000"/>
                        <a:t>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Mon 12/23/24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Wed 3/12/25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48 hrs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67672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r>
                        <a:rPr lang="en-US" sz="1000"/>
                        <a:t>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Mon 12/23/24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Tue 1/14/25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 hrs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223050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r>
                        <a:rPr lang="en-US" sz="1000"/>
                        <a:t>Frontend 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Fri 1/31/25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Fri 2/21/25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104 hrs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961868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r>
                        <a:rPr lang="en-US" sz="1000"/>
                        <a:t>Backend 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Fri 1/31/25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Fri 2/21/25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128 hrs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3357378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r>
                        <a:rPr lang="en-US" sz="1000"/>
                        <a:t>Tester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Wed 2/19/25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Tue 3/4/25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72 hrs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8645746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r>
                        <a:rPr lang="en-US" sz="1000"/>
                        <a:t>UI/UX Designer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Wed 1/15/25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Thu 1/30/25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72 </a:t>
                      </a:r>
                      <a:r>
                        <a:rPr lang="en-US" sz="1000" dirty="0" err="1"/>
                        <a:t>hrs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483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5487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8EB48D57-9FDF-BE28-D21D-5EDB1F8A8A2F}"/>
              </a:ext>
            </a:extLst>
          </p:cNvPr>
          <p:cNvSpPr txBox="1"/>
          <p:nvPr/>
        </p:nvSpPr>
        <p:spPr>
          <a:xfrm>
            <a:off x="225552" y="110680"/>
            <a:ext cx="9144000" cy="63817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ctr"/>
          <a:lstStyle>
            <a:lvl1pPr marL="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600" b="1" cap="all" baseline="0">
                <a:solidFill>
                  <a:schemeClr val="bg1">
                    <a:lumMod val="50000"/>
                  </a:schemeClr>
                </a:solidFill>
              </a:rPr>
              <a:t>Resource Cost Overview</a:t>
            </a:r>
          </a:p>
        </p:txBody>
      </p:sp>
      <p:sp>
        <p:nvSpPr>
          <p:cNvPr id="5" name="TextBox 176">
            <a:extLst>
              <a:ext uri="{FF2B5EF4-FFF2-40B4-BE49-F238E27FC236}">
                <a16:creationId xmlns:a16="http://schemas.microsoft.com/office/drawing/2014/main" id="{300648DD-FD70-9973-DEA0-87CA536C0ED7}"/>
              </a:ext>
            </a:extLst>
          </p:cNvPr>
          <p:cNvSpPr txBox="1"/>
          <p:nvPr/>
        </p:nvSpPr>
        <p:spPr>
          <a:xfrm>
            <a:off x="225552" y="1682496"/>
            <a:ext cx="3657600" cy="27432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382" tIns="45690" rIns="91382" bIns="45690" rtlCol="0" anchor="t"/>
          <a:lstStyle>
            <a:lvl1pPr marL="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3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u="none" strike="noStrike" kern="1200" baseline="0">
                <a:solidFill>
                  <a:schemeClr val="accent1"/>
                </a:solidFill>
                <a:latin typeface="+mn-lt"/>
                <a:ea typeface="Segoe UI" pitchFamily="34" charset="0"/>
                <a:cs typeface="Segoe UI" pitchFamily="34" charset="0"/>
              </a:rPr>
              <a:t>COST STATUS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EF9A15D-C7C3-60C3-D40D-65C05D47EE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7224316"/>
              </p:ext>
            </p:extLst>
          </p:nvPr>
        </p:nvGraphicFramePr>
        <p:xfrm>
          <a:off x="225552" y="2089404"/>
          <a:ext cx="4949952" cy="3131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176">
            <a:extLst>
              <a:ext uri="{FF2B5EF4-FFF2-40B4-BE49-F238E27FC236}">
                <a16:creationId xmlns:a16="http://schemas.microsoft.com/office/drawing/2014/main" id="{1E4E3E21-F311-9E09-29B5-ADC7B8D5D388}"/>
              </a:ext>
            </a:extLst>
          </p:cNvPr>
          <p:cNvSpPr txBox="1"/>
          <p:nvPr/>
        </p:nvSpPr>
        <p:spPr>
          <a:xfrm>
            <a:off x="6379464" y="1682496"/>
            <a:ext cx="3657600" cy="27432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382" tIns="45690" rIns="91382" bIns="45690" rtlCol="0" anchor="t"/>
          <a:lstStyle>
            <a:lvl1pPr marL="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 baseline="0" dirty="0">
                <a:solidFill>
                  <a:schemeClr val="accent1"/>
                </a:solidFill>
              </a:rPr>
              <a:t>COST DETAILS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D1DF6F9-761F-3F3C-45B9-C4CFE5A1D9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1052234"/>
              </p:ext>
            </p:extLst>
          </p:nvPr>
        </p:nvGraphicFramePr>
        <p:xfrm>
          <a:off x="6379464" y="2419984"/>
          <a:ext cx="4821936" cy="228917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  <a:extLst>
                  <a:ext uri="{22025989-CF43-496F-970E-345718F48C19}">
                    <pj15:dataQuery xmlns:pj15="http://schemas.microsoft.com/projectml/2012/main" type="pjResources" grouping="No Group" filter="Resources - Work" outlineLvl="-1" showHierarchy="0" summaryResourceAssignment="1">
                      <pj15:fieldItemLst>
                        <pj15:fieldItem field="205520897" customName=""/>
                        <pj15:fieldItem field="205520910" customName=""/>
                        <pj15:fieldItem field="205520907" customName=""/>
                        <pj15:fieldItem field="205520902" customName=""/>
                      </pj15:fieldItemLst>
                      <pj15:sortItemLst/>
                      <pj15:filterArgumentItemLst/>
                    </pj15:dataQuery>
                  </a:ext>
                </a:extLst>
              </a:tblPr>
              <a:tblGrid>
                <a:gridCol w="1421853">
                  <a:extLst>
                    <a:ext uri="{9D8B030D-6E8A-4147-A177-3AD203B41FA5}">
                      <a16:colId xmlns:a16="http://schemas.microsoft.com/office/drawing/2014/main" val="1442446885"/>
                    </a:ext>
                  </a:extLst>
                </a:gridCol>
                <a:gridCol w="989115">
                  <a:extLst>
                    <a:ext uri="{9D8B030D-6E8A-4147-A177-3AD203B41FA5}">
                      <a16:colId xmlns:a16="http://schemas.microsoft.com/office/drawing/2014/main" val="2063763619"/>
                    </a:ext>
                  </a:extLst>
                </a:gridCol>
                <a:gridCol w="1205484">
                  <a:extLst>
                    <a:ext uri="{9D8B030D-6E8A-4147-A177-3AD203B41FA5}">
                      <a16:colId xmlns:a16="http://schemas.microsoft.com/office/drawing/2014/main" val="140394697"/>
                    </a:ext>
                  </a:extLst>
                </a:gridCol>
                <a:gridCol w="1205484">
                  <a:extLst>
                    <a:ext uri="{9D8B030D-6E8A-4147-A177-3AD203B41FA5}">
                      <a16:colId xmlns:a16="http://schemas.microsoft.com/office/drawing/2014/main" val="2307126715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r>
                        <a:rPr lang="en-US" sz="90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Actual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Actual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Standard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0663846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r>
                        <a:rPr lang="en-US" sz="900"/>
                        <a:t>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24 hrs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$14,400.00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$600.00/hr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109250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r>
                        <a:rPr lang="en-US" sz="900"/>
                        <a:t>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144 hrs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$57,600.00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$400.00/hr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071559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r>
                        <a:rPr lang="en-US" sz="900"/>
                        <a:t>Frontend 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0 hrs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$0.00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$380.00/hr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654439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r>
                        <a:rPr lang="en-US" sz="900"/>
                        <a:t>Backend 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0 hrs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$0.00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$420.00/hr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185607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r>
                        <a:rPr lang="en-US" sz="900"/>
                        <a:t>Tester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0 hrs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$0.00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$200.00/hr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310404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r>
                        <a:rPr lang="en-US" sz="900"/>
                        <a:t>UI/UX Designer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72 hrs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$26,640.00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$370.00/</a:t>
                      </a:r>
                      <a:r>
                        <a:rPr lang="en-US" sz="900" dirty="0" err="1"/>
                        <a:t>hr</a:t>
                      </a:r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725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1412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144</Words>
  <Application>Microsoft Office PowerPoint</Application>
  <PresentationFormat>Widescreen</PresentationFormat>
  <Paragraphs>64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Times New Roman</vt:lpstr>
      <vt:lpstr>Office Theme</vt:lpstr>
      <vt:lpstr>Xây dựng website bán sản phẩm handmade cho cửa hàng X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Ngô Long Vũ</dc:creator>
  <cp:lastModifiedBy>Ngô Long Vũ</cp:lastModifiedBy>
  <cp:revision>14</cp:revision>
  <dcterms:created xsi:type="dcterms:W3CDTF">2024-12-23T16:56:54Z</dcterms:created>
  <dcterms:modified xsi:type="dcterms:W3CDTF">2024-12-23T17:31:30Z</dcterms:modified>
</cp:coreProperties>
</file>